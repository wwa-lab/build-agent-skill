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0A5FA">
              <a:alpha val="1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AI-Assisted AS/400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&amp; the IBM i Skill Family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 intake to RPGLE / CLLE code and unit tests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16-skill document chain you can run from your terminal.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4754880" cy="50292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46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AS/400 Developers  ·  TLs  ·  POD Leaders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AS400 Engineering Team   · 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the next ~30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— what it is, why it matters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 AI coding agent for AS/400 workflows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2176272"/>
            <a:ext cx="9601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49424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94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221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&amp; MCP Servers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2542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skills, tools, and connectors fit together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08760" y="2889504"/>
            <a:ext cx="9601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62656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626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9352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 Skill Family — the document chain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2552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skills from requirement to code and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3602736"/>
            <a:ext cx="9601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675888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758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6484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Existing source → UT Plan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396849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legacy RPGLE to a developer-ready unit test plan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4315968"/>
            <a:ext cx="9601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89120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89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New requirement → New source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46817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→ Spec → Code → Review, end-to-end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5029200"/>
            <a:ext cx="9601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102352"/>
            <a:ext cx="640080" cy="548640"/>
          </a:xfrm>
          <a:prstGeom prst="rect">
            <a:avLst/>
          </a:prstGeom>
          <a:solidFill>
            <a:srgbClr val="1A254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1023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08760" y="5394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OpenCode?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terminal-native AI coding agent — free, open, model-agnostic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77840" cy="46634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91440" cy="4663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in one 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AI coding agent that lives in your terminal.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reads, edits, and runs code on your machine, and can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any LLM (Claude, GPT, local models) and to your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tools through MCP.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754880"/>
            <a:ext cx="1463040" cy="411480"/>
          </a:xfrm>
          <a:prstGeom prst="rect">
            <a:avLst/>
          </a:prstGeom>
          <a:solidFill>
            <a:srgbClr val="11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68880" y="4754880"/>
            <a:ext cx="1463040" cy="411480"/>
          </a:xfrm>
          <a:prstGeom prst="rect">
            <a:avLst/>
          </a:prstGeom>
          <a:solidFill>
            <a:srgbClr val="111A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4754880"/>
            <a:ext cx="1463040" cy="411480"/>
          </a:xfrm>
          <a:prstGeom prst="rect">
            <a:avLst/>
          </a:prstGeom>
          <a:solidFill>
            <a:srgbClr val="11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69080" y="4754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1463040"/>
            <a:ext cx="5394960" cy="1051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RPGLE / CLLE / DDS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36092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legacy source as-is — no rewrite required.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355080" y="2651760"/>
            <a:ext cx="5394960" cy="1051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37960" y="2834640"/>
            <a:ext cx="685800" cy="68580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718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6092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our skills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36092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 Skill Family runs natively inside OpenCode.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355080" y="3840480"/>
            <a:ext cx="5394960" cy="1051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37960" y="4023360"/>
            <a:ext cx="685800" cy="68580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6052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 &amp; repeatable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36092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same skill, same output across the team.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355080" y="5029200"/>
            <a:ext cx="5394960" cy="1051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537960" y="5212080"/>
            <a:ext cx="685800" cy="68580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34924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6092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existing workflow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7360920" y="5577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alongside RDi / PDM — not a replacement.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OpenCode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→ configure model → start a session → invoke skills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6634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5029200" cy="237744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 -g opencode-ai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a session in your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/projects/as400-payroll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inside the TUI — invoke a skill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/skill ibm-i-program-analyzer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edit source on your machine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/ DB2 commands with approval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multiple skills in one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day with OpenCode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5394960" cy="914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7452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574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866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your project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opencode in your source repo or mapped IFS folder.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2926080"/>
            <a:ext cx="5394960" cy="914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292608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10896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the task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0866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PRLPAY01 and produce an impact analysis for CR-7823.”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09360" y="3977640"/>
            <a:ext cx="5394960" cy="914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09360" y="397764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6052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866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skills in chain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8660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program-analyzer → impact-analyzer → functional-spec → program-spec.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5029200"/>
            <a:ext cx="5394960" cy="914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09360" y="502920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1208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8660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&amp; commit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8660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reviewer skills; then commit the generated artifacts.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&amp; MCP Servers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building blocks that make OpenCode useful for your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46634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91440" cy="4663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expertise, packaged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514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with a 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tells the agent </a:t>
            </a:r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one job well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write a spec, generate code, review DDS, etc.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reviewable — lives in Git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Tier-aware (L1 / L2 / L3) — scales with complexity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Layer-bounded — each skill stays in its lane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— chain into an end-to-end workflow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5532120" cy="46634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1463040"/>
            <a:ext cx="91440" cy="4663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1780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connectors for tools &amp; data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2514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 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agent talk to external systems through a common interface — </a:t>
            </a:r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Git, DB2, IFS, Jenkins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83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AS/400 connectors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7512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 DB2 — query SQL tables / physical files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&amp; source member — read / write members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pull CR / story context automatically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read diffs, open branches, commit changes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 Skill Family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skills organized as a document-and-implementation 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26771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267712" cy="3200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505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77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requirement-normalizer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5292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program-analyzer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284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impact-analyzer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98064" y="1554480"/>
            <a:ext cx="2267712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Specify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35224" y="19019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8064" y="2240280"/>
            <a:ext cx="2267712" cy="3200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80944" y="245059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2377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functional-spec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80944" y="2926080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285292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technical-design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80944" y="3401568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33284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program-spec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80944" y="3877056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38039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file-spec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93208" y="1554480"/>
            <a:ext cx="2267712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Generate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0368" y="19019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93208" y="2240280"/>
            <a:ext cx="2267712" cy="3200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76088" y="2450592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2377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code-generator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76088" y="29260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285292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dds-generator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276088" y="34015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33284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ut-plan-generator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276088" y="387705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0408" y="38039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test-scaffold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88352" y="1554480"/>
            <a:ext cx="2267712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Review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25512" y="19019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88352" y="2240280"/>
            <a:ext cx="2267712" cy="3200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71232" y="2450592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2377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spec-reviewer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571232" y="292608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45552" y="285292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dds-reviewer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571232" y="340156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45552" y="33284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571232" y="3877056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5552" y="38039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compile-precheck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683496" y="1554480"/>
            <a:ext cx="2267712" cy="685800"/>
          </a:xfrm>
          <a:prstGeom prst="rect">
            <a:avLst/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20656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Orchestrate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820656" y="190195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683496" y="2240280"/>
            <a:ext cx="2267712" cy="320040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66376" y="2450592"/>
            <a:ext cx="164592" cy="164592"/>
          </a:xfrm>
          <a:prstGeom prst="ellipse">
            <a:avLst/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0696" y="23774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workflow-orchestrator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72491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020056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731520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610344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02920" y="5577840"/>
            <a:ext cx="11155680" cy="685800"/>
          </a:xfrm>
          <a:prstGeom prst="rect">
            <a:avLst/>
          </a:prstGeom>
          <a:solidFill>
            <a:srgbClr val="111A2E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BR-xx continuity </a:t>
            </a:r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business rules keep the same number across every layer.  </a:t>
            </a:r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boundaries </a:t>
            </a:r>
            <a:pPr indent="0" marL="0">
              <a:buNone/>
            </a:pP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skill stays in its lane; no layer collapse.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Existing source → UT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legacy RPGLE program into a developer-ready test plan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788920" cy="42062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78892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source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program-analyzer at PRLPAY01.RPGLE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606040"/>
            <a:ext cx="2423160" cy="91440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8529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 ibm-i-program-analyzer  PRLPAY01.RPGLE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" y="3657600"/>
            <a:ext cx="2423160" cy="1965960"/>
          </a:xfrm>
          <a:prstGeom prst="rect">
            <a:avLst/>
          </a:prstGeom>
          <a:solidFill>
            <a:srgbClr val="111A2E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" y="39319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Entry: *INLR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 subroutines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2 F-specs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Calls: CHKEMP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call-flow.md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55848" y="1554480"/>
            <a:ext cx="2788920" cy="42062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55448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38728" y="1783080"/>
            <a:ext cx="640080" cy="64008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892808"/>
            <a:ext cx="420624" cy="4206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70248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Recover the spec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270248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a Lite program-spec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538728" y="2606040"/>
            <a:ext cx="2423160" cy="91440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30168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30168" y="28529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 ibm-i-program-spec  --from-source PRLPAY01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538728" y="3657600"/>
            <a:ext cx="2423160" cy="1965960"/>
          </a:xfrm>
          <a:prstGeom prst="rect">
            <a:avLst/>
          </a:prstGeom>
          <a:solidFill>
            <a:srgbClr val="111A2E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30168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30168" y="39319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Layer: L1 (Lite)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Inputs / Outputs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Processing steps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BR-01 … BR-05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2 TBDs flagged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program-spec.md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208776" y="1554480"/>
            <a:ext cx="2788920" cy="42062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08776" y="1554480"/>
            <a:ext cx="27889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892808"/>
            <a:ext cx="420624" cy="42062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2317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UT plan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7123176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UT cases from spec + BR-xx rules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391656" y="2606040"/>
            <a:ext cx="2423160" cy="91440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83096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483096" y="28529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 ibm-i-ut-plan-generator  program-spec.md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391656" y="3657600"/>
            <a:ext cx="2423160" cy="1965960"/>
          </a:xfrm>
          <a:prstGeom prst="rect">
            <a:avLst/>
          </a:prstGeom>
          <a:solidFill>
            <a:srgbClr val="111A2E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83096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483096" y="39319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Cases: UT-01..12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BR-01 happy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BR-02 boundary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BR-03 negative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Coverage: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ut-plan.md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061704" y="1554480"/>
            <a:ext cx="2788920" cy="42062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061704" y="1554480"/>
            <a:ext cx="2788920" cy="73152"/>
          </a:xfrm>
          <a:prstGeom prst="rect">
            <a:avLst/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244584" y="1783080"/>
            <a:ext cx="640080" cy="64008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B794F6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892808"/>
            <a:ext cx="420624" cy="42062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976104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Produce test scaffold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9976104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UT plan into executable SQL/CL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244584" y="2606040"/>
            <a:ext cx="2423160" cy="91440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336024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9336024" y="28529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 ibm-i-test-scaffold  ut-plan.md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9244584" y="3657600"/>
            <a:ext cx="2423160" cy="1965960"/>
          </a:xfrm>
          <a:prstGeom prst="rect">
            <a:avLst/>
          </a:prstGeom>
          <a:solidFill>
            <a:srgbClr val="111A2E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9336024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9336024" y="39319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setup.sql — seed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run.cl —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verify.sql — assert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PASS/FAIL per 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/qgpl/ut scripts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2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just one skill call — outputs flow into the next automatically when chained.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Sample UT Plan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of ut-plan.md generated from PRLPAY01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949440" cy="470916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ut-plan.md   (excerpt — L2 Standard)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UT-03 — Overtime calculation (BR-02)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 : Verify weekly hours &gt; 40 trigger 1.5× 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BR  : BR-02  (Overtime multiplier)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     : L2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Setup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EMPMST (EMPID, RATE) VALUES ('E01', 20.0)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TIMEWK (EMPID, HOURS) VALUES ('E01', 45)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Execute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PRLPAY01 PARM(('E01') ('202614'))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Verify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GROSS FROM PAYOUT WHERE EMPID='E01'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 = 950.00   (40×20 + 5×30)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TOLERANCE = 0.01     → PASS / FAIL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Cleanup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FROM EMPMST WHERE EMPID='E01'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FROM PAYOUT WHERE EMPID='E01'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0" y="1463040"/>
            <a:ext cx="4160520" cy="47091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↔ UT coverage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011680"/>
          <a:ext cx="3794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00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</a:rPr>
                        <a:t>BR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</a:rPr>
                        <a:t>Rule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</a:rPr>
                        <a:t>UT cases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BR-01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pay ≥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UT-01, UT-07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BR-02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× 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BR-03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bracket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UT-04, UT-09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BR-04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deduction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BR-05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 (bankers)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4663440"/>
            <a:ext cx="3794760" cy="1417320"/>
          </a:xfrm>
          <a:prstGeom prst="rect">
            <a:avLst/>
          </a:prstGeom>
          <a:solidFill>
            <a:srgbClr val="11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70916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9144000" y="4754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cases generated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5 BRs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minutes total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New requirement → New source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fresh feature request from prose to compileable RPGLE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18745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requirement-normalizer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/ CBR / CE items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645920"/>
            <a:ext cx="1874520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Functional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32888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functional-spec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32888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88536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1645920"/>
            <a:ext cx="1874520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9976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Technical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5696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25696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technical-design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25696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25696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allocation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1645920"/>
            <a:ext cx="1874520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Program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18504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18504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program-spec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18504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18504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74152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4152" y="1645920"/>
            <a:ext cx="187452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65592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11312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11312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code-generator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11312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1312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11312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RPGLE / CLLE source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966960" y="1645920"/>
            <a:ext cx="1874520" cy="283464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66960" y="1645920"/>
            <a:ext cx="1874520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Review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10412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0412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  +  compile-precheck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104120" y="3337560"/>
            <a:ext cx="1600200" cy="0"/>
          </a:xfrm>
          <a:prstGeom prst="line">
            <a:avLst/>
          </a:prstGeom>
          <a:noFill/>
          <a:ln w="6350">
            <a:solidFill>
              <a:srgbClr val="2B3A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0412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104120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/ fix-list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04288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197096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089904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982712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875520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02920" y="4709160"/>
            <a:ext cx="11201400" cy="150876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4754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INPUT  —  pasted into OpenCode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" y="5029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/skill ibm-i-workflow-orchestrator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CR-8842: Add a new report PRLRPT05 that lists employees whose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YTD gross &gt; 100,000 for the selected company. Use EMPMST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PAYOUT, sort by department, include a grand total. Must be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callable from menu MN001.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Generated artifact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Program-spec and generated RPGLE for PRLRPT05 (excerpt)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715000" cy="47091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73152" cy="4709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program-spec.md  (excerpt)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5394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PRLRPT05 — High-earner report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 : Program Spec (L2 Standard)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: NEW   ·   CR-8842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1.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&amp;COMPANY  CHAR(3)   (required)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2. Data contract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EMPMST (IF)  — keyed by EMPID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PAYOUT (IF)  — keyed by EMPID, YEAR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PRLR05  (PF) — output print 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3. Processing steps        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S1. CHAIN EMPMST with &amp;COMPANY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S2. SETLL PAYOUT by EMPID / current year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S3. READE loop — accumulate YTD gross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S4. IF YTD &gt; 100000 → write detail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S5. Grand total on LR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4. Business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BR-01 YTD threshold = 100,000 (parameterized)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BR-02 Sort by DEPT asc, within by EMPID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349240" cy="4709160"/>
          </a:xfrm>
          <a:prstGeom prst="rect">
            <a:avLst/>
          </a:prstGeom>
          <a:solidFill>
            <a:srgbClr val="070B17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63040"/>
            <a:ext cx="73152" cy="4709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PRLRPT05.RPGLE  (code-generator output, free-format)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920240"/>
            <a:ext cx="5074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**FREE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ctl-opt option(*srcstmt:*nodebugio) dftactgrp(*no);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dcl-f EMPMST  usage(*input) keyed;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dcl-f PAYOUT  usage(*input) keyed;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dcl-f PRLR05  usage(*output);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dcl-pi *n;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pCompany  char(3) const;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end-pi;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dcl-s ytdGross packed(11:2) inz(0);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dcl-c THRESHOLD 100000;                  // BR-01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S1 — locate employee master            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pCompany EMPMST;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 not %eof(EMPMST);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S2..S3 — accumulate YTD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ytdGross = calcYtd(EMPID: currentYear());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ytdGross &gt; THRESHOLD;         // BR-01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 DETAIL;                 // S4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endif;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read EMPMST;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enddo;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TOTAL;                        // S5 / LR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get out of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our pilot POD saw in the first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788920" cy="2194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78892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86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spec drafts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55848" y="1554480"/>
            <a:ext cx="2788920" cy="2194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55848" y="1554480"/>
            <a:ext cx="278892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745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2286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3355848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traceability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08776" y="1554480"/>
            <a:ext cx="2788920" cy="2194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08776" y="155448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745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286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6208776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compile reworks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61704" y="1554480"/>
            <a:ext cx="2788920" cy="219456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61704" y="1554480"/>
            <a:ext cx="2788920" cy="73152"/>
          </a:xfrm>
          <a:prstGeom prst="rect">
            <a:avLst/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8745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1704" y="2286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79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000" dirty="0"/>
          </a:p>
        </p:txBody>
      </p:sp>
      <p:sp>
        <p:nvSpPr>
          <p:cNvPr id="24" name="Text 18"/>
          <p:cNvSpPr/>
          <p:nvPr/>
        </p:nvSpPr>
        <p:spPr>
          <a:xfrm>
            <a:off x="9061704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one chain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02920" y="4069080"/>
            <a:ext cx="11201400" cy="210312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2920" y="4069080"/>
            <a:ext cx="73152" cy="2103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3152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the POD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634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OpenCode on your workstation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32588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-g opencode-ai · configure the model endpoint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66344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8348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skill-family repo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98348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.claude/ skills into your project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663440"/>
            <a:ext cx="411480" cy="4114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4108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CR for the pilot run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64108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pair on it — end-to-end, existing + new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600" kern="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— what would you like to try first in your POD?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3160" y="5120640"/>
            <a:ext cx="7315200" cy="640080"/>
          </a:xfrm>
          <a:prstGeom prst="rect">
            <a:avLst/>
          </a:prstGeom>
          <a:solidFill>
            <a:srgbClr val="1A2541"/>
          </a:solidFill>
          <a:ln w="12700">
            <a:solidFill>
              <a:srgbClr val="2B3A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yaozixiao9527@gmail.com   ·   AS400 Engineering 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&amp; IBM i Skill Family</dc:title>
  <dc:subject>PptxGenJS Presentation</dc:subject>
  <dc:creator>AS400 Engineering</dc:creator>
  <cp:lastModifiedBy>AS400 Engineering</cp:lastModifiedBy>
  <cp:revision>1</cp:revision>
  <dcterms:created xsi:type="dcterms:W3CDTF">2026-04-22T13:13:46Z</dcterms:created>
  <dcterms:modified xsi:type="dcterms:W3CDTF">2026-04-22T13:13:46Z</dcterms:modified>
</cp:coreProperties>
</file>